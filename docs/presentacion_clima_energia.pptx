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65A82"/>
                </a:solidFill>
                <a:latin typeface="Arial"/>
              </a:rPr>
              <a:t>Temperatura promedio por región (°C)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Temperatura promedio (°C)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9F2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Asia-Pacifico</c:v>
                  </c:pt>
                  <c:pt idx="1">
                    <c:v>África</c:v>
                  </c:pt>
                  <c:pt idx="2">
                    <c:v>América</c:v>
                  </c:pt>
                  <c:pt idx="3">
                    <c:v>Europa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22.1</c:v>
                </c:pt>
                <c:pt idx="1">
                  <c:v>18.4</c:v>
                </c:pt>
                <c:pt idx="2">
                  <c:v>14.2</c:v>
                </c:pt>
                <c:pt idx="3">
                  <c:v>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65A82"/>
                </a:solidFill>
                <a:latin typeface="Arial"/>
              </a:rPr>
              <a:t>Tendencia CO₂ promedio por región (2020–2024)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Europa</c:v>
                </c:pt>
              </c:strCache>
            </c:strRef>
          </c:tx>
          <c:spPr>
            <a:solidFill>
              <a:srgbClr val="065A82"/>
            </a:solidFill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441</c:v>
                </c:pt>
                <c:pt idx="1">
                  <c:v>448</c:v>
                </c:pt>
                <c:pt idx="2">
                  <c:v>452</c:v>
                </c:pt>
                <c:pt idx="3">
                  <c:v>445</c:v>
                </c:pt>
                <c:pt idx="4">
                  <c:v>443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América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438</c:v>
                </c:pt>
                <c:pt idx="1">
                  <c:v>445</c:v>
                </c:pt>
                <c:pt idx="2">
                  <c:v>449</c:v>
                </c:pt>
                <c:pt idx="3">
                  <c:v>442</c:v>
                </c:pt>
                <c:pt idx="4">
                  <c:v>440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Asia-Pacifico</c:v>
                </c:pt>
              </c:strCache>
            </c:strRef>
          </c:tx>
          <c:spPr>
            <a:solidFill>
              <a:srgbClr val="E24B4A"/>
            </a:solidFill>
            <a:ln w="31750" cap="flat">
              <a:solidFill>
                <a:srgbClr val="E24B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24B4A"/>
              </a:solidFill>
              <a:ln w="9525" cap="flat">
                <a:solidFill>
                  <a:srgbClr val="E24B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447</c:v>
                </c:pt>
                <c:pt idx="1">
                  <c:v>451</c:v>
                </c:pt>
                <c:pt idx="2">
                  <c:v>455</c:v>
                </c:pt>
                <c:pt idx="3">
                  <c:v>448</c:v>
                </c:pt>
                <c:pt idx="4">
                  <c:v>446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África</c:v>
                </c:pt>
              </c:strCache>
            </c:strRef>
          </c:tx>
          <c:spPr>
            <a:solidFill>
              <a:srgbClr val="EF9F27"/>
            </a:solidFill>
            <a:ln w="31750" cap="flat">
              <a:solidFill>
                <a:srgbClr val="EF9F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9F27"/>
              </a:solidFill>
              <a:ln w="9525" cap="flat">
                <a:solidFill>
                  <a:srgbClr val="EF9F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443</c:v>
                </c:pt>
                <c:pt idx="1">
                  <c:v>447</c:v>
                </c:pt>
                <c:pt idx="2">
                  <c:v>450</c:v>
                </c:pt>
                <c:pt idx="3">
                  <c:v>444</c:v>
                </c:pt>
                <c:pt idx="4">
                  <c:v>442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65A82"/>
                </a:solidFill>
                <a:latin typeface="Arial"/>
              </a:rPr>
              <a:t>Top 10 países — % Renovable promedio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Renovable promedio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Norway</c:v>
                  </c:pt>
                  <c:pt idx="1">
                    <c:v>Sweden</c:v>
                  </c:pt>
                  <c:pt idx="2">
                    <c:v>Brazil</c:v>
                  </c:pt>
                  <c:pt idx="3">
                    <c:v>Canada</c:v>
                  </c:pt>
                  <c:pt idx="4">
                    <c:v>France</c:v>
                  </c:pt>
                  <c:pt idx="5">
                    <c:v>Germany</c:v>
                  </c:pt>
                  <c:pt idx="6">
                    <c:v>China</c:v>
                  </c:pt>
                  <c:pt idx="7">
                    <c:v>India</c:v>
                  </c:pt>
                  <c:pt idx="8">
                    <c:v>Poland</c:v>
                  </c:pt>
                  <c:pt idx="9">
                    <c:v>South Africa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19.8</c:v>
                </c:pt>
                <c:pt idx="1">
                  <c:v>19.5</c:v>
                </c:pt>
                <c:pt idx="2">
                  <c:v>18.2</c:v>
                </c:pt>
                <c:pt idx="3">
                  <c:v>17.9</c:v>
                </c:pt>
                <c:pt idx="4">
                  <c:v>17.1</c:v>
                </c:pt>
                <c:pt idx="5">
                  <c:v>16.4</c:v>
                </c:pt>
                <c:pt idx="6">
                  <c:v>15.2</c:v>
                </c:pt>
                <c:pt idx="7">
                  <c:v>14.8</c:v>
                </c:pt>
                <c:pt idx="8">
                  <c:v>14.1</c:v>
                </c:pt>
                <c:pt idx="9">
                  <c:v>13.5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65A82"/>
                </a:solidFill>
                <a:latin typeface="Arial"/>
              </a:rPr>
              <a:t>CO₂ vs Consumo energético (tendencia)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0"/>
            <a:ext cx="8686800" cy="1673352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Global de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y Energía 2020–2024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estudio exploratorio de patrones climáticos, emisiones de CO₂ y transición energética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566160"/>
            <a:ext cx="1828800" cy="68580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58444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</a:rPr>
              <a:t>36,540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4672" y="391363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registros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3566160"/>
            <a:ext cx="1828800" cy="68580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816352" y="358444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</a:rPr>
              <a:t>20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16352" y="391363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países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3566160"/>
            <a:ext cx="1828800" cy="68580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358444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</a:rPr>
              <a:t>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28032" y="391363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años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3566160"/>
            <a:ext cx="1828800" cy="68580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839712" y="358444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</a:rPr>
              <a:t>10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39712" y="391363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variables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Sierra  ·  Talento Tech  ·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572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7043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</a:rPr>
              <a:t>Dataset y metodología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1389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Origen, estructura y herramientas utilizadas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20240"/>
            <a:ext cx="4572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08483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</a:rPr>
              <a:t>Exploración y calidad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Limpieza, estadísticas descriptivas y distribución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34640"/>
            <a:ext cx="4572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99923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</a:rPr>
              <a:t>Temperatura global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32186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Patrones por región y evolución temporal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749040"/>
            <a:ext cx="4572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91363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</a:rPr>
              <a:t>Emisiones de CO₂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4133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Ranking de países y tendencias 2020–2024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100584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005840"/>
            <a:ext cx="4572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117043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9496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</a:rPr>
              <a:t>Energías renovables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94960" y="1389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Liderazgo global y brechas entre países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192024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1920240"/>
            <a:ext cx="4572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4864608" y="208483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9496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</a:rPr>
              <a:t>Correlación y regresión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394960" y="2304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Análisis estadístico y modelo predictivo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283464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2834640"/>
            <a:ext cx="4572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4864608" y="299923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9496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</a:rPr>
              <a:t>Hallazgos y conclusiones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394960" y="32186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Síntesis ejecutiva del proyecto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y metodología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15568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36,540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58922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registros diarios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00584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1005840"/>
            <a:ext cx="64008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115568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20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158922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países analizados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100584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005840"/>
            <a:ext cx="64008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115568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5 años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17720" y="158922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2020 – 2024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37960" y="100584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1005840"/>
            <a:ext cx="64008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115568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10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675120" y="158922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variables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2402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Variables analizadas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260604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avg_temperature · Temperatura (°C)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humidity · Humedad (%)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co2_emission · Emisiones CO₂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energy_consumption · Consumo energético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renewable_share · % Renovable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urban_population · Población urbana (%)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industrial_activity_index · Índice industrial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energy_price · Precio energía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22402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Stack tecnológico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2651760"/>
            <a:ext cx="256032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010912" y="2651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Python + Jupyter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2990088"/>
            <a:ext cx="256032" cy="23774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5010912" y="2990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Pandas / NumPy / SciPy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3328416"/>
            <a:ext cx="256032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5010912" y="3328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Plotly / Seaborn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666744"/>
            <a:ext cx="256032" cy="23774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5010912" y="3666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Scikit-learn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4005072"/>
            <a:ext cx="256032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5010912" y="4005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MySQL + Workbench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4343400"/>
            <a:ext cx="256032" cy="23774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5010912" y="4343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VS Code + GitHub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y calidad del dato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9144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155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9E75"/>
                </a:solidFill>
              </a:rPr>
              <a:t>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valores nulos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05840"/>
            <a:ext cx="64008" cy="9144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1155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9E75"/>
                </a:solidFill>
              </a:rPr>
              <a:t>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51760" y="15361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duplicados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64008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1155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1,827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00600" y="15361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registros/país (exacto)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100584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1005840"/>
            <a:ext cx="64008" cy="91440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1155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9F27"/>
                </a:solidFill>
              </a:rPr>
              <a:t>Sintético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49440" y="15361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origen del dataset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148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Estadísticas descriptivas clave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42032"/>
          <a:ext cx="8412480" cy="228600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Temperatura (°C)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 emisiones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445.82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234.36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999.85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Consumo energético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7,295.9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3,693.9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15,998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Renovable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energía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115.28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global por región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914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Hallazgos clave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577840" y="1325880"/>
            <a:ext cx="32004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325880"/>
            <a:ext cx="32004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Asia-Pacifico lidera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15000" y="1801368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Temperatura promedio más alta: Indonesia, India y Australia.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577840" y="2240280"/>
            <a:ext cx="32004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2240280"/>
            <a:ext cx="320040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Europa más fría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15000" y="2715768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Menor temperatura promedio — mayor variabilidad estacional.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577840" y="3154680"/>
            <a:ext cx="32004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3154680"/>
            <a:ext cx="32004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Dataset sintético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715000" y="3630168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No se detectó tendencia al alza estadísticamente significativa.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577840" y="4069080"/>
            <a:ext cx="32004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577840" y="4069080"/>
            <a:ext cx="320040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8"/>
          <p:cNvSpPr/>
          <p:nvPr/>
        </p:nvSpPr>
        <p:spPr>
          <a:xfrm>
            <a:off x="5715000" y="4206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Rango global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715000" y="4544568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De -9.6°C (mínimo) a 38.7°C (máximo) en el dataset.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Emisiones de CO₂ por región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52160" y="914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Métricas clave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52160" y="1325880"/>
            <a:ext cx="29260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1325880"/>
            <a:ext cx="64008" cy="82296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9" name="Text 6"/>
          <p:cNvSpPr/>
          <p:nvPr/>
        </p:nvSpPr>
        <p:spPr>
          <a:xfrm>
            <a:off x="5989320" y="1435608"/>
            <a:ext cx="2743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9F27"/>
                </a:solidFill>
              </a:rPr>
              <a:t>445.82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989320" y="1803197"/>
            <a:ext cx="274320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CO₂ promedio global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2240280"/>
            <a:ext cx="29260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52160" y="2240280"/>
            <a:ext cx="64008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5989320" y="2350008"/>
            <a:ext cx="2743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234.36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989320" y="2717597"/>
            <a:ext cx="274320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desviación estándar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3154680"/>
            <a:ext cx="29260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2160" y="3154680"/>
            <a:ext cx="64008" cy="82296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7" name="Text 14"/>
          <p:cNvSpPr/>
          <p:nvPr/>
        </p:nvSpPr>
        <p:spPr>
          <a:xfrm>
            <a:off x="5989320" y="3264408"/>
            <a:ext cx="2743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4B4A"/>
                </a:solidFill>
              </a:rPr>
              <a:t>Sin baja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989320" y="3631997"/>
            <a:ext cx="274320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tendencia 2020–2024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52160" y="41148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El CO₂ no muestra tendencia clara a la baja. La alta std (234) refleja gran dispersión entre países.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Energías renovables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52160" y="914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Resumen global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52160" y="1325880"/>
            <a:ext cx="29260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1325880"/>
            <a:ext cx="64008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9" name="Text 6"/>
          <p:cNvSpPr/>
          <p:nvPr/>
        </p:nvSpPr>
        <p:spPr>
          <a:xfrm>
            <a:off x="5989320" y="1435608"/>
            <a:ext cx="2743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9E75"/>
                </a:solidFill>
              </a:rPr>
              <a:t>15.94%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989320" y="1803197"/>
            <a:ext cx="274320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promedio global renovable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2240280"/>
            <a:ext cx="29260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52160" y="2240280"/>
            <a:ext cx="64008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5989320" y="2350008"/>
            <a:ext cx="2743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30.87%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989320" y="2717597"/>
            <a:ext cx="274320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máximo (líder global)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3154680"/>
            <a:ext cx="29260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2160" y="3154680"/>
            <a:ext cx="64008" cy="82296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7" name="Text 14"/>
          <p:cNvSpPr/>
          <p:nvPr/>
        </p:nvSpPr>
        <p:spPr>
          <a:xfrm>
            <a:off x="5989320" y="3264408"/>
            <a:ext cx="2743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4B4A"/>
                </a:solidFill>
              </a:rPr>
              <a:t>5.00%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989320" y="3631997"/>
            <a:ext cx="274320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mínimo (rezagado)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52160" y="41148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La brecha entre el país líder y el rezagado es de 25.87 puntos porcentuales — un reto enorme para la transición energética.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SQL — MySQL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029200" cy="3566160"/>
          </a:xfrm>
          <a:prstGeom prst="rect">
            <a:avLst/>
          </a:prstGeom>
          <a:solidFill>
            <a:srgbClr val="021B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registros_clima_energia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50292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81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834640" y="1481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PK AUTO_INCREMENT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773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34640" y="1773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NOT NULL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066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34640" y="20665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359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temperatura_promedio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34640" y="2359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DECIMAL(6,2)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651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humedad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34640" y="2651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DECIMAL(6,2)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2944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emision_co2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834640" y="2944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DECIMAL(10,2)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236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consumo_energetico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834640" y="3236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DECIMAL(12,2)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3529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participacion_renovable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34640" y="35295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DECIMAL(6,2)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822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precio_energia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834640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DECIMAL(8,2)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4114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834640" y="4114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VARCHAR(30)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0" y="960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13 queries analíticas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0" y="137160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Q1  Total registros por país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Q2  Temperatura por país y región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Q3  Evolución anual de CO₂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Q4  Ranking de renovables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Q5  Países sobre promedio global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Q6  Consumo por región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Q7  Top 5 mejor desempeño ambiental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Q8  Resumen ejecutivo global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4389120"/>
            <a:ext cx="3108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69280" y="4389120"/>
            <a:ext cx="64008" cy="5486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2" name="Text 30"/>
          <p:cNvSpPr/>
          <p:nvPr/>
        </p:nvSpPr>
        <p:spPr>
          <a:xfrm>
            <a:off x="5806440" y="449884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9E75"/>
                </a:solidFill>
              </a:rPr>
              <a:t>36,540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806440" y="4707331"/>
            <a:ext cx="292608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registros cargados exitosamente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y modelo de regresión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6012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960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Resultados del modelo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577840" y="1371600"/>
            <a:ext cx="32004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371600"/>
            <a:ext cx="64008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0" y="1481328"/>
            <a:ext cx="301752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r = 0.1718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715000" y="1806489"/>
            <a:ext cx="3017520" cy="284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Correlación débil positiva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2240280"/>
            <a:ext cx="32004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2240280"/>
            <a:ext cx="64008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0" y="2350008"/>
            <a:ext cx="301752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R² = 3.06%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715000" y="2675169"/>
            <a:ext cx="3017520" cy="284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Varianza explicada por el modelo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577840" y="3108960"/>
            <a:ext cx="32004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3108960"/>
            <a:ext cx="64008" cy="74980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0" y="3218688"/>
            <a:ext cx="301752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9F27"/>
                </a:solidFill>
              </a:rPr>
              <a:t>MAE = 3,080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715000" y="3543849"/>
            <a:ext cx="3017520" cy="284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Error absoluto medio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577840" y="3977640"/>
            <a:ext cx="32004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577840" y="3977640"/>
            <a:ext cx="64008" cy="74980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1" name="Text 18"/>
          <p:cNvSpPr/>
          <p:nvPr/>
        </p:nvSpPr>
        <p:spPr>
          <a:xfrm>
            <a:off x="5715000" y="4087368"/>
            <a:ext cx="301752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9E75"/>
                </a:solidFill>
              </a:rPr>
              <a:t>p ≈ 0.0000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5715000" y="4412529"/>
            <a:ext cx="3017520" cy="284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Estadísticamente significativo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577840" y="4617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Conclusión: el modelo lineal simple explica apenas el 3% de la varianza. Se confirma el origen sintético del dataset.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principales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6400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Temperatura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Asia-Pacifico registra la temperatura más alta. No se detectó tendencia al alza significativa (dato sintético).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114800" cy="6400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CO₂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481328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Sin tendencia clara a la baja. Alta dispersión entre países (std = 234). Promedio global: 445.82.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31720"/>
            <a:ext cx="4114800" cy="6400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Renovables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807208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Brecha enorme: 5% – 30.87%. La mayoría de países está por debajo del promedio global (15.94%).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331720"/>
            <a:ext cx="41148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Correlación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807208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La única relación significativa es CO₂ vs consumo (r = 0.17). Todas las demás son ≈ 0.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57600"/>
            <a:ext cx="411480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794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Regresión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133088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R² = 3.06% confirma que un modelo lineal simple no predice bien el consumo energético.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657600"/>
            <a:ext cx="4114800" cy="640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794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Dataset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4133088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El análisis revela naturaleza sintética: variables generadas de forma independiente.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y trabajo futuro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6400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Limitaciones del 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Dataset de naturaleza sintética confirmada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Variables generadas de forma independiente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Correlaciones cercanas a cero en casi todos los pares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Distribuciones perfectamente uniformes (rangos redondos)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No refleja relaciones causales reales del mundo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4114800" cy="6400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Recomendaciones futuras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46304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Replicar con datos reales: NASA GISS, IEA, Our World in Data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Incorporar modelos multivariables (Random Forest, XGBoost)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Ampliar período para detectar tendencias de largo plazo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Agregar variables: PIB per cápita, política energética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Deploy del prototipo Streamlit con datos reales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0"/>
            <a:ext cx="8686800" cy="1947672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Global de Clima y Energía 2020–2024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2468880" cy="45720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EDA completo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2194560"/>
            <a:ext cx="2468880" cy="45720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2194560"/>
            <a:ext cx="54864" cy="4572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Estadística descriptiva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2468880" cy="45720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2194560"/>
            <a:ext cx="54864" cy="4572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4" name="Text 12"/>
          <p:cNvSpPr/>
          <p:nvPr/>
        </p:nvSpPr>
        <p:spPr>
          <a:xfrm>
            <a:off x="6327648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Visualización interactiva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2788920"/>
            <a:ext cx="2468880" cy="45720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Regresión lineal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0" y="2788920"/>
            <a:ext cx="2468880" cy="45720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0" y="2788920"/>
            <a:ext cx="54864" cy="4572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0" name="Text 18"/>
          <p:cNvSpPr/>
          <p:nvPr/>
        </p:nvSpPr>
        <p:spPr>
          <a:xfrm>
            <a:off x="3584448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Base de datos MySQL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2788920"/>
            <a:ext cx="2468880" cy="45720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2788920"/>
            <a:ext cx="54864" cy="4572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3" name="Text 21"/>
          <p:cNvSpPr/>
          <p:nvPr/>
        </p:nvSpPr>
        <p:spPr>
          <a:xfrm>
            <a:off x="6327648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Notebook reproducible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Sierra  ·  Talento Tech  ·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Global de Clima y Energía 2020–2024</dc:title>
  <dc:subject>PptxGenJS Presentation</dc:subject>
  <dc:creator>Miguel Sierra</dc:creator>
  <cp:lastModifiedBy>Miguel Sierra</cp:lastModifiedBy>
  <cp:revision>1</cp:revision>
  <dcterms:created xsi:type="dcterms:W3CDTF">2026-04-07T21:08:05Z</dcterms:created>
  <dcterms:modified xsi:type="dcterms:W3CDTF">2026-04-07T21:08:05Z</dcterms:modified>
</cp:coreProperties>
</file>